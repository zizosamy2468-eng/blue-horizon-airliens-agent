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7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733"/>
                </a:solidFill>
                <a:latin typeface="Arial"/>
              </a:rPr>
              <a:t>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(out of 10)</c:v>
                </c:pt>
              </c:strCache>
            </c:strRef>
          </c:tx>
          <c:spPr>
            <a:solidFill>
              <a:srgbClr val="2E9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Sliding
window</c:v>
                  </c:pt>
                  <c:pt idx="1">
                    <c:v>Observation
masking</c:v>
                  </c:pt>
                  <c:pt idx="2">
                    <c:v>Recursive
summarization</c:v>
                  </c:pt>
                  <c:pt idx="3">
                    <c:v>Zone-based
pruning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7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733"/>
                </a:solidFill>
                <a:latin typeface="Arial"/>
              </a:rPr>
              <a:t>Avg latency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(s)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Sliding
window</c:v>
                  </c:pt>
                  <c:pt idx="1">
                    <c:v>Observation
masking</c:v>
                  </c:pt>
                  <c:pt idx="2">
                    <c:v>Recursive
summarization</c:v>
                  </c:pt>
                  <c:pt idx="3">
                    <c:v>Zone-based
pruning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1.21</c:v>
                </c:pt>
                <c:pt idx="1">
                  <c:v>0.79</c:v>
                </c:pt>
                <c:pt idx="2">
                  <c:v>11.97</c:v>
                </c:pt>
                <c:pt idx="3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7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733"/>
                </a:solidFill>
                <a:latin typeface="Arial"/>
              </a:rPr>
              <a:t>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(of 12)</c:v>
                </c:pt>
              </c:strCache>
            </c:strRef>
          </c:tx>
          <c:spPr>
            <a:solidFill>
              <a:srgbClr val="2E9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RAG</c:v>
                  </c:pt>
                  <c:pt idx="1">
                    <c:v>Hybrid Search</c:v>
                  </c:pt>
                  <c:pt idx="2">
                    <c:v>Agentic RAG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11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7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733"/>
                </a:solidFill>
                <a:latin typeface="Arial"/>
              </a:rPr>
              <a:t>Avg tokens per query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tokens / query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RAG</c:v>
                  </c:pt>
                  <c:pt idx="1">
                    <c:v>Hybrid Search</c:v>
                  </c:pt>
                  <c:pt idx="2">
                    <c:v>Agentic RAG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474.5</c:v>
                </c:pt>
                <c:pt idx="1">
                  <c:v>476.2</c:v>
                </c:pt>
                <c:pt idx="2">
                  <c:v>1120.8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7772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icons/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85953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 ·  IROPS ASSISTANT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RAG Extension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94360" y="3611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IROPS agent long-term memory across sessions,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grounded answers from a real policy manual — not a guess.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·  CONTEXT MANAGEMENT  ·  RETRIEVAL-AUGMENTED GENERATION  ·  SELF-VERIFICATION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EXTENSION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gaps in live IROPS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sessions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approves a duty-hour override at 9am. A different ops agent picks up the same flight at 2pm with zero visibility into it. Front-desk agents re-ask and re-approve things that already have an answer — risking a duplicate compensation payout or a duty-hour override requested twice.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03120"/>
            <a:ext cx="685800" cy="685800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11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18541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 in policy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35661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policy lookup was four hardcoded sentences. Real decisions depend on 18 real, cross-referenced policy sections — compensation eligibility, duty-time overrides, loyalty multipliers. An agent guessing at policy is exactly the hallucination that costs real money or breaks a real safety rule.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gaps needed the full architecture the lab requires — a partial version (memory with no consolidation, or RAG with no verification) would not have actually fixed either one.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file bridges two new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286000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10" y="236281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MCP Server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493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· tools_read.py · tools_write.py · MySQL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business logic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49040" y="30632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34840" y="20116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286000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1" descr="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30" y="2362810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memory_tools.py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34930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new file wiring both systems in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63440" y="4069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record_turn() + update_scratchpad()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existing tools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726680" y="30632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366760" y="20116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69780" y="2286000"/>
            <a:ext cx="640080" cy="640080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20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590" y="236281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  +  rag/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95360" y="349300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· episodic · semantic · vector store · 3 RAG paths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95360" y="4069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independent &amp; testable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SQL and business logic in tools_read.py / tools_write.py stays functionally unchanged — only a recording side effect is added.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live turn to a durable fact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2359152"/>
            <a:ext cx="585216" cy="585216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954" y="2429378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37033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buffer + a separate scratchpad. Pruning the buffer never touches the scratchpad.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2715768" y="21031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235915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082" y="2429378"/>
            <a:ext cx="444764" cy="444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25496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Promote-or-Drop Router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62072" y="37033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overflow: forget or episodic, per turn, with logged reasoning. Never writes semantic memory.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4882896" y="21031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86984" y="2359152"/>
            <a:ext cx="585216" cy="585216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16" name="Image 2" descr="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210" y="2429378"/>
            <a:ext cx="444764" cy="444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92624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Store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0" y="37033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persisted to disk. Tomorrow's session recalls today's history.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7050024" y="21031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54112" y="2359152"/>
            <a:ext cx="585216" cy="585216"/>
          </a:xfrm>
          <a:prstGeom prst="ellipse">
            <a:avLst/>
          </a:prstGeom>
          <a:solidFill>
            <a:srgbClr val="C94F4F"/>
          </a:solidFill>
          <a:ln/>
        </p:spPr>
      </p:sp>
      <p:pic>
        <p:nvPicPr>
          <p:cNvPr id="21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338" y="2429378"/>
            <a:ext cx="444764" cy="444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Pass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96328" y="37033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periodic. The ONLY writer to semantic memory.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9217152" y="21031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921240" y="2359152"/>
            <a:ext cx="585216" cy="585216"/>
          </a:xfrm>
          <a:prstGeom prst="ellipse">
            <a:avLst/>
          </a:prstGeom>
          <a:solidFill>
            <a:srgbClr val="3F9142"/>
          </a:solidFill>
          <a:ln/>
        </p:spPr>
      </p:sp>
      <p:pic>
        <p:nvPicPr>
          <p:cNvPr id="26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466" y="2429378"/>
            <a:ext cx="444764" cy="4447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0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363456" y="37033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authority-scored facts. Conflicts resolved and recorded, never overwritten.</a:t>
            </a:r>
            <a:endParaRPr lang="en-US" sz="970" dirty="0"/>
          </a:p>
        </p:txBody>
      </p:sp>
      <p:sp>
        <p:nvSpPr>
          <p:cNvPr id="29" name="Text 22"/>
          <p:cNvSpPr/>
          <p:nvPr/>
        </p:nvSpPr>
        <p:spPr>
          <a:xfrm>
            <a:off x="2487168" y="2359152"/>
            <a:ext cx="283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4654296" y="2359152"/>
            <a:ext cx="283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6821424" y="2359152"/>
            <a:ext cx="283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8988552" y="2359152"/>
            <a:ext cx="283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BF0DC"/>
          </a:solidFill>
          <a:ln/>
        </p:spPr>
      </p:sp>
      <p:sp>
        <p:nvSpPr>
          <p:cNvPr id="34" name="Text 27"/>
          <p:cNvSpPr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invariant:  exactly one path into semantic memory — Consolidation → SemanticStore.add_fact() — never inline, never from the router.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conflict, resolved and traceable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survives a full buffer drain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F17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buffer_turns: 0, buffer_tokens: 0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scratchpad: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current_flight: 'BH202',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sub_goal: 'check crew duty hours...',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pending_decisions: [1 item] 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2 promoted, 3 forgotten — with reasoning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F17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48056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'can you check on BH202 for me'
</a:t>
            </a:r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EPISODIC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'...disrupted - Reason: mechanical'
  → matched: operational_decision, root_cause_fact
</a:t>
            </a:r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EPISODIC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'SUPERVISOR APPROVAL NEEDED...'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DEDED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C94F4F"/>
          </a:solidFill>
          <a:ln/>
        </p:spPr>
      </p:sp>
      <p:pic>
        <p:nvPicPr>
          <p:cNvPr id="12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310" y="2026310"/>
            <a:ext cx="382219" cy="3822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conflict, resolved by consolidation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episodes disagree on BH202's disruption cause: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3017520"/>
            <a:ext cx="4846320" cy="384048"/>
          </a:xfrm>
          <a:prstGeom prst="rect">
            <a:avLst/>
          </a:prstGeom>
          <a:solidFill>
            <a:srgbClr val="F1C9C9"/>
          </a:solidFill>
          <a:ln w="9525">
            <a:solidFill>
              <a:srgbClr val="E8B9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017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32520" y="3017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012680" y="30175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37960" y="3401568"/>
            <a:ext cx="4846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B9B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3401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 report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32520" y="34015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12680" y="34015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(unconfirmed)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3785616"/>
            <a:ext cx="4846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B9B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37856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Maintenance-confirmed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732520" y="37856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012680" y="378561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(confirmed)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537960" y="45262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'weather' wins on authority. The 'mechanical' version is NOT deleted — kept with status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superseded_due_to_conflict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explicit note of what it lost to.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37960" y="5623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new_facts=2   updates=0   conflicts_resolved=1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strategies, measured against 10 long-context tests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strategy's pruned output is fed to a real Gemini call — scored correct only if the model's actual answer preserves the buried critical fact.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9202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7F5EE"/>
          </a:solidFill>
          <a:ln/>
        </p:spPr>
      </p:sp>
      <p:sp>
        <p:nvSpPr>
          <p:cNvPr id="8" name="Shape 4"/>
          <p:cNvSpPr/>
          <p:nvPr/>
        </p:nvSpPr>
        <p:spPr>
          <a:xfrm>
            <a:off x="731520" y="5513832"/>
            <a:ext cx="502920" cy="502920"/>
          </a:xfrm>
          <a:prstGeom prst="ellipse">
            <a:avLst/>
          </a:prstGeom>
          <a:solidFill>
            <a:srgbClr val="3F9142"/>
          </a:solidFill>
          <a:ln/>
        </p:spPr>
      </p:sp>
      <p:pic>
        <p:nvPicPr>
          <p:cNvPr id="9" name="Image 0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5574182"/>
            <a:ext cx="382219" cy="38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5486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Observation Masking.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zone-based pruning on perfect accuracy, but at lower token cost (1246 vs 1554 input tokens) and lower latency (0.79s vs 0.90s) — the bloat in IROPS sessions is tool-call JSON, which this strategy targets directly.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vector database, not a list of floats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21689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Index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441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builds a real HNSW index automatically per collection.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103120"/>
            <a:ext cx="548640" cy="548640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1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37" y="21689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Payload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03520" y="2441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title, and last-reviewed date travel with every vector.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77" y="21689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Pre-Search Filtering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052560" y="2441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where= constrains candidates BEFORE similarity search, not after.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same query, filtered vs. unfiltered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1729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"compensation cap amount"  (unfiltered)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31520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0.693  IROPS-COMP-4.2b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0.683  IROPS-COMP-6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0.619  IROPS-COMP-5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4114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1729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query, filtered  category='duty_time'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0.511  IROPS-DUTY-3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0.502  IROPS-DUTY-1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0.490  IROPS-DUTY-5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retrieval paths, three different strengths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1744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→ top-k → generate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2926080"/>
            <a:ext cx="2971800" cy="0"/>
          </a:xfrm>
          <a:prstGeom prst="line">
            <a:avLst/>
          </a:prstGeom>
          <a:noFill/>
          <a:ln w="12700">
            <a:solidFill>
              <a:srgbClr val="DADF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341071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General, conceptual questions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exact codes ("4.2b") — they don't embed distinctively.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103120"/>
            <a:ext cx="594360" cy="594360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15" name="Image 1" descr="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3" y="217444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4924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+ BM25 keyword match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0" y="2926080"/>
            <a:ext cx="2971800" cy="0"/>
          </a:xfrm>
          <a:prstGeom prst="line">
            <a:avLst/>
          </a:prstGeom>
          <a:noFill/>
          <a:ln w="12700">
            <a:solidFill>
              <a:srgbClr val="DADF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572000" y="341071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policy-code lookups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catches literal tokens an embedding model treats as noise.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04672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66760" y="2103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2" descr="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083" y="2174443"/>
            <a:ext cx="451714" cy="45171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098280" y="2404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multi-hop function calling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8321040" y="2926080"/>
            <a:ext cx="2971800" cy="0"/>
          </a:xfrm>
          <a:prstGeom prst="line">
            <a:avLst/>
          </a:prstGeom>
          <a:noFill/>
          <a:ln w="12700">
            <a:solidFill>
              <a:srgbClr val="DADFE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2104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321040" y="341071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Multi-part, decomposition questions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321040" y="39319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whether to retrieve again — 2 real hops in our test case.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· 3 OF 3  —  AGENTIC RAG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two real retrieval hops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gold-tier passenger is on flight BH202, disrupted for a mechanical reason, and the reserve crew member already needs a duty-time override. What compensation applies, and what has to happen before we assign that crew member?”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EAF3FF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1  →  compensation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IROPS-COMP-5   ·   IROPS-COMP-1   ·   IROPS-MECH-1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tier → 25% multiplier, but the mechanical cause must be maintenance-confirmed first.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09360" y="29260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  →  duty-time override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IROPS-CREW-1 · IROPS-DUTY-4 · IROPS-DUTY-3 · IROPS-DUTY-5 · IROPS-DUTY-1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41605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an available non-override crew member first; if none, log the override with the approving supervisor.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unique policy sections retrieved across 2 hops   ·  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 tokens   ·   15.98s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agent unverified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explicit LLM-judged checks, applied identically to RAG answers AND to memory recall from episodic / semantic storage: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5915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2427183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5856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651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retrieved passage actually relevant — not just vocabulary overlap?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359152"/>
            <a:ext cx="566928" cy="566928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12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71" y="2427183"/>
            <a:ext cx="430865" cy="4308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25856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Check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23760" y="2651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generated answer actually backed by the passages that passed?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consequence: a memory recall filtered mid-check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asked: "what caused BH202's disruption?"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3434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7F5EE"/>
          </a:solidFill>
          <a:ln w="12700">
            <a:solidFill>
              <a:srgbClr val="3F91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3F9142"/>
          </a:solidFill>
          <a:ln/>
        </p:spPr>
      </p:sp>
      <p:pic>
        <p:nvPicPr>
          <p:cNvPr id="1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62686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526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disruption_reason: weather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7724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explicitly identifies the cause of BH202's disruption.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17920" y="43434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DEDED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C94F4F"/>
          </a:solidFill>
          <a:ln/>
        </p:spPr>
      </p:sp>
      <p:pic>
        <p:nvPicPr>
          <p:cNvPr id="24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6268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4526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auto_approve_cap_usd: 750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4652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— a financial limit with no connection to the disruption cause, even though it lives in the same store.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 questions, 3 architectures, real numbers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73736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/>
        </p:spPr>
      </p:sp>
      <p:sp>
        <p:nvSpPr>
          <p:cNvPr id="7" name="Shape 3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8" name="Image 0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5089550"/>
            <a:ext cx="382219" cy="3822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4956048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Hybrid Search. 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2E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and hybrid tied at 11/12 in this run — hybrid's citation-lookup advantage didn't show up on this test set, but it's still preferred by design: near-zero extra cost, and structurally robust to exact-code lookups. 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(routed for multi-part questions):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2E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every multi-part question (4/4) but at 1.6× the latency and 2.3× the tokens — too slow for a live phone call as the default.</a:t>
            </a:r>
            <a:endParaRPr lang="en-US" sz="1130" dirty="0"/>
          </a:p>
        </p:txBody>
      </p:sp>
      <p:sp>
        <p:nvSpPr>
          <p:cNvPr id="10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MCP tools, gated the same way the originals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2E9E8F"/>
          </a:solidFill>
          <a:ln/>
        </p:spPr>
      </p:sp>
      <p:pic>
        <p:nvPicPr>
          <p:cNvPr id="6" name="Image 0" descr="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2184867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93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recall_flight_history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500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recall, Self-RAG-verified. Available from session start — read-only.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2144268"/>
            <a:ext cx="3703320" cy="512064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214426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FROM SESSION START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3127248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461004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71" y="3529035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2735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search_policy_manual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369417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over the full policy manual. Replaces the old 4-sentence lookup.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635240" y="3488436"/>
            <a:ext cx="3703320" cy="512064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7" name="Text 13"/>
          <p:cNvSpPr/>
          <p:nvPr/>
        </p:nvSpPr>
        <p:spPr>
          <a:xfrm>
            <a:off x="7635240" y="3488436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FROM SESSION START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4471416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480517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" y="4873203"/>
            <a:ext cx="430865" cy="4308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617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run_memory_consolidation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54480" y="50383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 periodic consolidation pass on demand.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635240" y="4832604"/>
            <a:ext cx="3703320" cy="51206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4" name="Text 19"/>
          <p:cNvSpPr/>
          <p:nvPr/>
        </p:nvSpPr>
        <p:spPr>
          <a:xfrm>
            <a:off x="7635240" y="483260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SUPERVISOR-ONLY · UNLOCKED AFTER AUTH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NOTIFICATION RECEIVED: </a:t>
            </a:r>
            <a:pPr indent="0" marL="0">
              <a:buNone/>
            </a:pPr>
            <a:r>
              <a:rPr lang="en-US" sz="1150" dirty="0">
                <a:solidFill>
                  <a:srgbClr val="7F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notifications/tools/list_changed  —  </a:t>
            </a:r>
            <a:pPr indent="0" marL="0">
              <a:buNone/>
            </a:pPr>
            <a:r>
              <a:rPr lang="en-US" sz="1150" dirty="0">
                <a:solidFill>
                  <a:srgbClr val="C7C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pushed live after authenticate_supervisor succeeds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extension delivers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550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361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+ scratchpad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8562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buffer pruning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066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877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Promote-or-drop routing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29077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logged, inspectable reasoning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75818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393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959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writer to versioned semantic memory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94360" y="4754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8097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6908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 strategies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50109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observation masking ships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65506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15361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vector DB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949440" y="18562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+ pre-search metadata filtering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309360" y="26517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5" descr="icons/ro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706624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5877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RAG architectures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949440" y="29077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hybrid ships as default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309360" y="37033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6" descr="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758184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49440" y="36393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verification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949440" y="3959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RAG answers AND memory recall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309360" y="4754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3" name="Image 7" descr="icons/l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480974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49440" y="46908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MCP server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949440" y="50109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tools, gated like the originals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5943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IROPS Assistant  ·  Memory &amp; RAG 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2026-08-07T09:57:19Z</dcterms:created>
  <dcterms:modified xsi:type="dcterms:W3CDTF">2026-08-07T09:57:19Z</dcterms:modified>
</cp:coreProperties>
</file>